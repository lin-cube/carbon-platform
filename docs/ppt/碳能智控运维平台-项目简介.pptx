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FFFFF"/>
                </a:solidFill>
                <a:latin typeface="微软雅黑"/>
              </a:rPr>
              <a:t>接口优化前后响应时间对比（秒）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优化前 (秒)</c:v>
                </c:pt>
              </c:strCache>
            </c:strRef>
          </c:tx>
          <c:spPr>
            <a:solidFill>
              <a:srgbClr val="EF4444"/>
            </a:solidFill>
          </c:spPr>
          <c:cat>
            <c:strRef>
              <c:f>Sheet1!$A$2:$A$5</c:f>
              <c:strCache>
                <c:ptCount val="4"/>
                <c:pt idx="0">
                  <c:v>时段汇总
按日</c:v>
                </c:pt>
                <c:pt idx="1">
                  <c:v>AI 问答
统计意图</c:v>
                </c:pt>
                <c:pt idx="2">
                  <c:v>异常分析</c:v>
                </c:pt>
                <c:pt idx="3">
                  <c:v>按类型分组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4.612</c:v>
                </c:pt>
                <c:pt idx="1">
                  <c:v>3.842</c:v>
                </c:pt>
                <c:pt idx="2">
                  <c:v>2.263</c:v>
                </c:pt>
                <c:pt idx="3">
                  <c:v>3.458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优化后 (秒)</c:v>
                </c:pt>
              </c:strCache>
            </c:strRef>
          </c:tx>
          <c:spPr>
            <a:solidFill>
              <a:srgbClr val="22C55E"/>
            </a:solidFill>
          </c:spPr>
          <c:cat>
            <c:strRef>
              <c:f>Sheet1!$A$2:$A$5</c:f>
              <c:strCache>
                <c:ptCount val="4"/>
                <c:pt idx="0">
                  <c:v>时段汇总
按日</c:v>
                </c:pt>
                <c:pt idx="1">
                  <c:v>AI 问答
统计意图</c:v>
                </c:pt>
                <c:pt idx="2">
                  <c:v>异常分析</c:v>
                </c:pt>
                <c:pt idx="3">
                  <c:v>按类型分组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0.149</c:v>
                </c:pt>
                <c:pt idx="1">
                  <c:v>0.1</c:v>
                </c:pt>
                <c:pt idx="2">
                  <c:v>0.224</c:v>
                </c:pt>
                <c:pt idx="3">
                  <c:v>0.041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>
          <a:solidFill>
            <a:srgbClr val="8BA0C0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82296"/>
            <a:ext cx="3200400" cy="822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微软雅黑"/>
              </a:rPr>
              <a:t>碳能智控运维平台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D3EE"/>
                </a:solidFill>
                <a:latin typeface="微软雅黑"/>
              </a:rPr>
              <a:t>Carbon Energy Intelligent Control &amp; O&amp;M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3840480" cy="27432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6EDF7"/>
                </a:solidFill>
                <a:latin typeface="微软雅黑"/>
              </a:rPr>
              <a:t>建筑能源智能管理与运营优化 · AI + 大数据 + 数字孪生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6EDF7"/>
                </a:solidFill>
                <a:latin typeface="微软雅黑"/>
              </a:rPr>
              <a:t>「能耗数据构建 — 查询统计 — 大模型智慧运维」一体化解决方案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348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434840"/>
            <a:ext cx="45720" cy="1143000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553712"/>
            <a:ext cx="2240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数据规模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78231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599 万</a:t>
            </a:r>
            <a:r>
              <a:rPr sz="1050">
                <a:solidFill>
                  <a:srgbClr val="8BA0C0"/>
                </a:solidFill>
                <a:latin typeface="微软雅黑"/>
              </a:rPr>
              <a:t> 条逐小时记录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4348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4434840"/>
            <a:ext cx="45720" cy="1143000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4553712"/>
            <a:ext cx="2240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接入建筑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478231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456</a:t>
            </a:r>
            <a:r>
              <a:rPr sz="1050">
                <a:solidFill>
                  <a:srgbClr val="8BA0C0"/>
                </a:solidFill>
                <a:latin typeface="微软雅黑"/>
              </a:rPr>
              <a:t> 栋 / 18 园区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4348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4434840"/>
            <a:ext cx="45720" cy="1143000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553712"/>
            <a:ext cx="2240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后端接口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78231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30</a:t>
            </a:r>
            <a:r>
              <a:rPr sz="1050">
                <a:solidFill>
                  <a:srgbClr val="8BA0C0"/>
                </a:solidFill>
                <a:latin typeface="微软雅黑"/>
              </a:rPr>
              <a:t> 个全部 ≤2 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44348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4434840"/>
            <a:ext cx="45720" cy="1143000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4553712"/>
            <a:ext cx="224028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异常识别召回率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78231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98.7%</a:t>
            </a:r>
            <a:r>
              <a:rPr sz="1050">
                <a:solidFill>
                  <a:srgbClr val="8BA0C0"/>
                </a:solidFill>
                <a:latin typeface="微软雅黑"/>
              </a:rPr>
              <a:t> 误报率仅 3.3%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8BA0C0"/>
                </a:solidFill>
                <a:latin typeface="微软雅黑"/>
              </a:rPr>
              <a:t>郑州西亚斯学院 · 工学部科大讯飞人工智能学院　|　项目导师：席宏昌　|　AI+X Vibe Coding 实验班（二期）真实项目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BA0C0"/>
                </a:solidFill>
                <a:latin typeface="微软雅黑"/>
              </a:rPr>
              <a:t>数据源：Building Data Genome Project 2（CC-BY 4.0）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一、背景与真实痛点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建筑运行能耗占全国碳排放 20% 以上，是「双碳」目标的关键领域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行业背景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9377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我国提出 2030 年前碳达峰、2060 年前碳中和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建筑运行阶段（采暖/制冷/照明/设备）碳排放占全国 20% 以上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AI 大模型在自然语言交互、数据分析、智能决策上能力快速迭代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赛题合作方：中建八局第二建设有限公司（世界 500 强中国建筑子公司）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5935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合作方已有能力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9377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自研「擎翼数字中枢」智慧运维平台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融合 AIoT、大数据、数字孪生技术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已在临沂大学、临朐县人民医院等项目落地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E6EDF7"/>
                </a:solidFill>
                <a:latin typeface="微软雅黑"/>
              </a:rPr>
              <a:t>· 本项目可作为标准化模块嵌入该平台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四大真实痛点（来自需求方业务场景）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5394960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45720" cy="102412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① 运维决策缺乏智能赋能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故障诊断慢、准确率低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03120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9E0B"/>
                </a:solidFill>
                <a:latin typeface="微软雅黑"/>
              </a:rPr>
              <a:t>专业人员单次响应 5 分钟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9E0B"/>
                </a:solidFill>
                <a:latin typeface="微软雅黑"/>
              </a:rPr>
              <a:t>非专业人员需 30 分钟至数天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52928"/>
            <a:ext cx="5394960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852928"/>
            <a:ext cx="45720" cy="102412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44368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② 知识资产难以传承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18688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隐性经验无标准化沉淀机制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218688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9E0B"/>
                </a:solidFill>
                <a:latin typeface="微软雅黑"/>
              </a:rPr>
              <a:t>「传帮带」困境突出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968496"/>
            <a:ext cx="5394960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3968496"/>
            <a:ext cx="45720" cy="102412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059936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③ 智能化分析缺失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34256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数据停留在静态展示与简单统计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334256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9E0B"/>
                </a:solidFill>
                <a:latin typeface="微软雅黑"/>
              </a:rPr>
              <a:t>缺乏 AI 深度挖掘能力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084064"/>
            <a:ext cx="5394960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5084064"/>
            <a:ext cx="45720" cy="102412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75504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④ 数据查询与报表低效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49824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多源查询繁琐、报表生成冗长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449824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9E0B"/>
                </a:solidFill>
                <a:latin typeface="微软雅黑"/>
              </a:rPr>
              <a:t>数据割裂率超 60%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F59E0B"/>
                </a:solidFill>
                <a:latin typeface="微软雅黑"/>
              </a:rPr>
              <a:t>导致能效损失 20%-30%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二、项目范围与交付成果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围绕 3 项核心任务，交付 8 个功能页面 + 30 个后端接口 + 完整数据集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75887" cy="4754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75887" cy="54864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36192"/>
            <a:ext cx="3273551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22D3EE"/>
                </a:solidFill>
                <a:latin typeface="微软雅黑"/>
              </a:rPr>
              <a:t>任务①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92224"/>
            <a:ext cx="3273551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能耗数据导入与治理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267712"/>
            <a:ext cx="3273551" cy="18288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3273551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CSV / Excel 多源接入，自动识别 UTF-8 / GBK 编码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五步向导：数据源选择 → 字段映射 → 清洗规则 → 预览导入 → 审计留痕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AI 批量规划导入：自动推断列类型并给出字段映射建议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内置清洗：去空格、剔负值、缺失策略、单位换算、去重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审计留痕：记录映射与规则 JSON、成功/失败行数、操作人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371600"/>
            <a:ext cx="3675887" cy="4754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6" y="1371600"/>
            <a:ext cx="3675887" cy="54864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273551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2F7DFF"/>
                </a:solidFill>
                <a:latin typeface="微软雅黑"/>
              </a:rPr>
              <a:t>任务②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792224"/>
            <a:ext cx="3273551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实时监控与可视化看板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2267712"/>
            <a:ext cx="3273551" cy="18288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395728"/>
            <a:ext cx="3273551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3D 园区模型：楼栋按能耗评级/强度/异常率着色，高度映射面积或电量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3D 交互：拖拽旋转、缩放、点击楼栋查看详情、用能粒子流动画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6 类分析图表：趋势、园区对比、类型结构、分时占比、异常趋势、评级分布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多级状态监控：园区 → 建筑 → 表计，含能耗评级 A–E 与异常告警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1371600"/>
            <a:ext cx="3675887" cy="4754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65592" y="1371600"/>
            <a:ext cx="3675887" cy="54864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36192"/>
            <a:ext cx="3273551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22C55E"/>
                </a:solidFill>
                <a:latin typeface="微软雅黑"/>
              </a:rPr>
              <a:t>任务③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92224"/>
            <a:ext cx="3273551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AI 智慧问答与诊断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2267712"/>
            <a:ext cx="3273551" cy="18288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395728"/>
            <a:ext cx="3273551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MCP 协议 7 类数据查询工具（维度/概览/分解/查询/异常/诊断/建议）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「小E」助手：回答附数据证据、工具链、知识库引用、置信度、耗时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异常诊断：输出「异常时段 vs 正常时段」对比证据链与归因置信度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运维建议：5 类规则，每条附量化依据（如供水温度每升 1℃ COP 升 2~4%）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17920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D3EE"/>
                </a:solidFill>
                <a:latin typeface="微软雅黑"/>
              </a:rPr>
              <a:t>交付物：可运行 Web 系统　|　完整数据集（599 万条 + 数据字典）　|　需求分析文档　|　技术方案文档　|　用户使用手册　|　测试记录与评测报告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三、数据底座：从开源数据到可用数据集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BDG2 开源数据集不是「成品」，需经 7 步管道转换才能满足业务字段要求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943600" cy="4754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数据处理管道（Python，7 个脚本）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888236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① 逐表计覆盖率测绘 → 选表配置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7228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② 宽表 → 长表展开（直接求和，不做差分）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70048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656332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③ 计量口径可信度校验（覆盖率/读数有效性/强度上限）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54096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040380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④ 建筑级聚合 + 站点剩余量按面积分摊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38144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424428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⑤ 单位统一（kBtu → kWh ×0.29307107）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22192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808476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⑥ 推算补全（露点→湿度、供回水温度、人员密度、COP）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237744" cy="237744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19252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微软雅黑"/>
              </a:rPr>
              <a:t>⑦ 分层基线-偏差异常标注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36592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9E0B"/>
                </a:solidFill>
                <a:latin typeface="微软雅黑"/>
              </a:rPr>
              <a:t>关键判断：BDG2 表计数值是【每小时区间消耗量】，不是累计读数。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9E0B"/>
                </a:solidFill>
                <a:latin typeface="微软雅黑"/>
              </a:rPr>
              <a:t>证据：某表计序列 44.05 → 44.93 → 43.83，单调递增比例仅 0.484。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59E0B"/>
                </a:solidFill>
                <a:latin typeface="微软雅黑"/>
              </a:rPr>
              <a:t>结论：统计直接 SUM，禁止 diff —— 判断错误会导致全部统计失真。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371600"/>
            <a:ext cx="49834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C55E"/>
                </a:solidFill>
                <a:latin typeface="微软雅黑"/>
              </a:rPr>
              <a:t>数据集实测结果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1737360"/>
            <a:ext cx="2395728" cy="105156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0" y="1737360"/>
            <a:ext cx="45720" cy="105156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85623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总记录数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208483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5,991,840</a:t>
            </a:r>
            <a:r>
              <a:rPr sz="1050">
                <a:solidFill>
                  <a:srgbClr val="8BA0C0"/>
                </a:solidFill>
                <a:latin typeface="微软雅黑"/>
              </a:rPr>
              <a:t>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49631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赛题要求 ≥1,000 条，为 5992 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62872" y="1737360"/>
            <a:ext cx="2395728" cy="105156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62872" y="1737360"/>
            <a:ext cx="45720" cy="1051560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185623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字段数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7464" y="208483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45</a:t>
            </a:r>
            <a:r>
              <a:rPr sz="1050">
                <a:solidFill>
                  <a:srgbClr val="8BA0C0"/>
                </a:solidFill>
                <a:latin typeface="微软雅黑"/>
              </a:rPr>
              <a:t> 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4" y="249631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含来源三态标注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2880360"/>
            <a:ext cx="2395728" cy="105156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75120" y="2880360"/>
            <a:ext cx="45720" cy="1051560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299923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建筑 / 园区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22783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456 /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63931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A 级独立计量 431 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62872" y="2880360"/>
            <a:ext cx="2395728" cy="105156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62872" y="2880360"/>
            <a:ext cx="45720" cy="10515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7464" y="299923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时间范围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4" y="322783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13,140</a:t>
            </a:r>
            <a:r>
              <a:rPr sz="1050">
                <a:solidFill>
                  <a:srgbClr val="8BA0C0"/>
                </a:solidFill>
                <a:latin typeface="微软雅黑"/>
              </a:rPr>
              <a:t> 小时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7464" y="3639312"/>
            <a:ext cx="212140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2016-01 ~ 2017-07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4069080"/>
            <a:ext cx="4983480" cy="20574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76288" y="4187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2D3EE"/>
                </a:solidFill>
                <a:latin typeface="微软雅黑"/>
              </a:rPr>
              <a:t>数据来源三态标注（合规关键）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76288" y="4526280"/>
            <a:ext cx="566928" cy="27432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76288" y="4553712"/>
            <a:ext cx="5669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F1B2F"/>
                </a:solidFill>
                <a:latin typeface="微软雅黑"/>
              </a:rPr>
              <a:t>实测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1" y="4553712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微软雅黑"/>
              </a:rPr>
              <a:t>电力/空调/水耗、室外温度、建筑面积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76288" y="4892040"/>
            <a:ext cx="566928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76288" y="4919472"/>
            <a:ext cx="5669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F1B2F"/>
                </a:solidFill>
                <a:latin typeface="微软雅黑"/>
              </a:rPr>
              <a:t>推算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71231" y="4919472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微软雅黑"/>
              </a:rPr>
              <a:t>湿度（露点→Magnus 公式）、碳排放、空调电耗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76288" y="5257800"/>
            <a:ext cx="566928" cy="274320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5285232"/>
            <a:ext cx="5669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F1B2F"/>
                </a:solidFill>
                <a:latin typeface="微软雅黑"/>
              </a:rPr>
              <a:t>仿真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1231" y="5285232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微软雅黑"/>
              </a:rPr>
              <a:t>供回水温度、COP、人员密度（非实测）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76288" y="5623560"/>
            <a:ext cx="566928" cy="27432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76288" y="5650992"/>
            <a:ext cx="5669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F1B2F"/>
                </a:solidFill>
                <a:latin typeface="微软雅黑"/>
              </a:rPr>
              <a:t>标注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71231" y="5650992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微软雅黑"/>
              </a:rPr>
              <a:t>异常标志、设备状态、严重度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四、核心算法：分层基线 - 偏差诊断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针对建筑能耗「强周期性 + 右尾重」特点设计，避免固定阈值的高误报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852160" cy="27432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5394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算法四步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6537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① 分层基线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65376"/>
            <a:ext cx="40233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按「星期几 × 小时」分 168 个槽位，取前 52 周同槽位历史中位数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1401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② 分位数阈值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14016"/>
            <a:ext cx="40233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取同槽位历史残差的 0.99 分位数作判定上限（误报率由分位数直接控制）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6265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③ 显著性下限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62656"/>
            <a:ext cx="40233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要求被标记读数同时超过该建筑自身 P75（抑制近零负荷建筑误报）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1129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④ 双重判定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11296"/>
            <a:ext cx="40233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模型偏差 + 物理规则约束；能耗异常与数据质量缺陷分开统计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51960"/>
            <a:ext cx="5852160" cy="1874519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5394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微软雅黑"/>
              </a:rPr>
              <a:t>为什么不能用固定 3σ 阈值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709160"/>
            <a:ext cx="539496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建筑电耗近似对数正态，右尾很重，MAD 估计的 σ 远小于真实尾部宽度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实测：固定 3σ 在【完全正常】的数据上就有 12.2% 的点超阈值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实际超限率随历史窗口变化：2 周 34.8% → 52 周 6.7%（理论 1%）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→ 建筑能耗具强季节性（非平稳），历史窗口必须足够长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5074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C55E"/>
                </a:solidFill>
                <a:latin typeface="微软雅黑"/>
              </a:rPr>
              <a:t>评测结果（注入式评测，固定随机种子可复现）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737360"/>
            <a:ext cx="2450592" cy="11887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737360"/>
            <a:ext cx="45720" cy="118872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85623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能耗异常召回率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084832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98.68</a:t>
            </a:r>
            <a:r>
              <a:rPr sz="1050">
                <a:solidFill>
                  <a:srgbClr val="8BA0C0"/>
                </a:solidFill>
                <a:latin typeface="微软雅黑"/>
              </a:rPr>
              <a:t>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263347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目标 ≥90%　✅ 达标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8008" y="1737360"/>
            <a:ext cx="2450592" cy="11887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08008" y="1737360"/>
            <a:ext cx="45720" cy="118872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5623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能耗异常误报率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084832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3.29</a:t>
            </a:r>
            <a:r>
              <a:rPr sz="1050">
                <a:solidFill>
                  <a:srgbClr val="8BA0C0"/>
                </a:solidFill>
                <a:latin typeface="微软雅黑"/>
              </a:rPr>
              <a:t>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63347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目标 ≤10%　✅ 达标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063240"/>
            <a:ext cx="2450592" cy="11887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3063240"/>
            <a:ext cx="45720" cy="1188720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318211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数据质量缺陷召回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3410712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97.67</a:t>
            </a:r>
            <a:r>
              <a:rPr sz="1050">
                <a:solidFill>
                  <a:srgbClr val="8BA0C0"/>
                </a:solidFill>
                <a:latin typeface="微软雅黑"/>
              </a:rPr>
              <a:t>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95935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表计卡死/数据缺失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08008" y="3063240"/>
            <a:ext cx="2450592" cy="11887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08008" y="3063240"/>
            <a:ext cx="45720" cy="1188720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18211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数据质量缺陷误报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410712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1.37</a:t>
            </a:r>
            <a:r>
              <a:rPr sz="1050">
                <a:solidFill>
                  <a:srgbClr val="8BA0C0"/>
                </a:solidFill>
                <a:latin typeface="微软雅黑"/>
              </a:rPr>
              <a:t>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3959352"/>
            <a:ext cx="2176272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与能耗异常分开统计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389120"/>
            <a:ext cx="5074920" cy="173736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4507992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微软雅黑"/>
              </a:rPr>
              <a:t>关键设计：两类判定严格分离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4828032"/>
            <a:ext cx="46634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能耗异常 = 真实用能偏离基线（用于召回/误报评估）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数据质量缺陷 = 采集侧问题（表计卡死、数据缺失）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若混为一谈：误报率从 3.29% 虚高到 16.9%，指标失真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前后端分离 + 预聚合表支撑毫秒级聚合查询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83112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" cy="102412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展现层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463040"/>
            <a:ext cx="9509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微软雅黑"/>
              </a:rPr>
              <a:t>Vue 3.5 + TypeScript + Vite 6 + Element Plus + ECharts + Three.js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1051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8 个页面　|　路由懒加载 + 三方库分包（three / echarts / element 独立 chunk）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87168"/>
            <a:ext cx="11183112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487168"/>
            <a:ext cx="54864" cy="1024128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596896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F7DFF"/>
                </a:solidFill>
                <a:latin typeface="微软雅黑"/>
              </a:rPr>
              <a:t>应用层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578608"/>
            <a:ext cx="9509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微软雅黑"/>
              </a:rPr>
              <a:t>Spring Boot 3.5 + JDK 21（内嵌 Tomcat，30 个接口）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926080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common 公共 / system 认证 / energy 查询 / analytics 统计 / import 导入 / ai 助手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02736"/>
            <a:ext cx="11183112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602736"/>
            <a:ext cx="54864" cy="1024128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124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C55E"/>
                </a:solidFill>
                <a:latin typeface="微软雅黑"/>
              </a:rP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94176"/>
            <a:ext cx="9509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微软雅黑"/>
              </a:rPr>
              <a:t>MySQL 8.4（17 张表，含 4 张预聚合表）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041648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事实表按月分区　|　索引：建筑+时间 / 异常覆盖索引 / 站点+时间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18304"/>
            <a:ext cx="11183112" cy="10241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718304"/>
            <a:ext cx="54864" cy="102412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管道层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09744"/>
            <a:ext cx="9509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微软雅黑"/>
              </a:rPr>
              <a:t>Python 3.14 + pandas + pyarrow（7 个脚本，独立于运行时）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157216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宽表→长表 → 计量校验 → 推算补全 → 异常标注 → 多格式导出 → 入库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70448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943600"/>
            <a:ext cx="1078992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C55E"/>
                </a:solidFill>
                <a:latin typeface="微软雅黑"/>
              </a:rPr>
              <a:t>性能实测：30 / 30 个接口 P95 ≤ 2 秒，最慢 689 ms，全部接口 P95 中位数 34 ms　|　核心手段：4 张预聚合表把跨百万行聚合查询从秒级降到毫秒级（最慢接口 4.6s → 0.15s）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六、性能优化效果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压测发现 4 处超标，通过预聚合表全部修复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371600"/>
          <a:ext cx="6675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371600"/>
            <a:ext cx="427939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优化措施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37360"/>
            <a:ext cx="4279392" cy="40233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1504" y="1819656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预聚合表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819656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粒度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9216" y="1819656"/>
            <a:ext cx="62179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行数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2448" y="1819656"/>
            <a:ext cx="120700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服务的查询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176272"/>
            <a:ext cx="4279392" cy="40233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2258568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agg_building_daily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58568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建筑×日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9216" y="2258568"/>
            <a:ext cx="62179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249,888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2448" y="2258568"/>
            <a:ext cx="120700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日趋势、时段桶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615184"/>
            <a:ext cx="4279392" cy="40233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2697480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agg_building_monthly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697480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建筑×月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6" y="2697480"/>
            <a:ext cx="62179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8,664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2448" y="2697480"/>
            <a:ext cx="120700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月度趋势、类型分解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054096"/>
            <a:ext cx="4279392" cy="40233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3136392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agg_anomaly_daily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3136392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建筑×日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216" y="3136392"/>
            <a:ext cx="62179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249,888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2448" y="3136392"/>
            <a:ext cx="120700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异常分析汇总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493008"/>
            <a:ext cx="4279392" cy="40233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3575304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agg_time_hourly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3575304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日期×小时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3575304"/>
            <a:ext cx="62179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13,140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3575304"/>
            <a:ext cx="1207008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E6EDF7"/>
                </a:solidFill>
                <a:latin typeface="微软雅黑"/>
              </a:rPr>
              <a:t>峰谷/分时/小时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041648"/>
            <a:ext cx="4279392" cy="1993392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16052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微软雅黑"/>
              </a:rPr>
              <a:t>核心经验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480560"/>
            <a:ext cx="39319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>
                <a:solidFill>
                  <a:srgbClr val="E6EDF7"/>
                </a:solidFill>
                <a:latin typeface="微软雅黑"/>
              </a:rPr>
              <a:t>· 跨大量行的聚合查询无法靠索引解决（索引加速定位，无法避免逐行聚合）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>
                <a:solidFill>
                  <a:srgbClr val="E6EDF7"/>
                </a:solidFill>
                <a:latin typeface="微软雅黑"/>
              </a:rPr>
              <a:t>· 必须走预聚合表；规范已写入建表脚本注释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>
                <a:solidFill>
                  <a:srgbClr val="E6EDF7"/>
                </a:solidFill>
                <a:latin typeface="微软雅黑"/>
              </a:rPr>
              <a:t>· 预聚合表不含建筑/园区维度时，需自动回退事实表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>
                <a:solidFill>
                  <a:srgbClr val="E6EDF7"/>
                </a:solidFill>
                <a:latin typeface="微软雅黑"/>
              </a:rPr>
              <a:t>· 注意：分区裁剪要求 WHERE 直接写分区列，写表达式不生效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七、验收指标达成情况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四项申报表硬指标，三项已达标，一项待 AI 模块接入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864" cy="1078992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核心页面平均响应时间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92808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30/30 接口 P95 全部通过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55064"/>
            <a:ext cx="11887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A0C0"/>
                </a:solidFill>
                <a:latin typeface="微软雅黑"/>
              </a:rPr>
              <a:t>目标 ≤ 2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545336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C55E"/>
                </a:solidFill>
                <a:latin typeface="微软雅黑"/>
              </a:rPr>
              <a:t>689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55064"/>
            <a:ext cx="1417320" cy="402336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72821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1B2F"/>
                </a:solidFill>
                <a:latin typeface="微软雅黑"/>
              </a:rPr>
              <a:t>达标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96312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496312"/>
            <a:ext cx="54864" cy="1078992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7919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异常识别召回率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063240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注入式评测，1440 个尖峰样本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25496"/>
            <a:ext cx="11887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A0C0"/>
                </a:solidFill>
                <a:latin typeface="微软雅黑"/>
              </a:rPr>
              <a:t>目标 ≥ 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715768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C55E"/>
                </a:solidFill>
                <a:latin typeface="微软雅黑"/>
              </a:rPr>
              <a:t>98.68%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825496"/>
            <a:ext cx="1417320" cy="402336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89864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1B2F"/>
                </a:solidFill>
                <a:latin typeface="微软雅黑"/>
              </a:rPr>
              <a:t>达标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66744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666744"/>
            <a:ext cx="54864" cy="1078992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849624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异常识别误报率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23367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同一评测，77.9 万正常样本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995928"/>
            <a:ext cx="11887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A0C0"/>
                </a:solidFill>
                <a:latin typeface="微软雅黑"/>
              </a:rPr>
              <a:t>目标 ≤ 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88620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C55E"/>
                </a:solidFill>
                <a:latin typeface="微软雅黑"/>
              </a:rPr>
              <a:t>3.29%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3995928"/>
            <a:ext cx="1417320" cy="402336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4069080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1B2F"/>
                </a:solidFill>
                <a:latin typeface="微软雅黑"/>
              </a:rPr>
              <a:t>达标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37176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837176"/>
            <a:ext cx="54864" cy="107899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020056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AI 问答可用准确率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404104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数据/统计类 16/16；知识类待 RAGFlow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166360"/>
            <a:ext cx="11887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A0C0"/>
                </a:solidFill>
                <a:latin typeface="微软雅黑"/>
              </a:rPr>
              <a:t>目标 ≥ 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056632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59E0B"/>
                </a:solidFill>
                <a:latin typeface="微软雅黑"/>
              </a:rPr>
              <a:t>100%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5166360"/>
            <a:ext cx="1417320" cy="40233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5239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1B2F"/>
                </a:solidFill>
                <a:latin typeface="微软雅黑"/>
              </a:rPr>
              <a:t>部分达标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016752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08192"/>
            <a:ext cx="1078992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说明：AI 问答准确率当前验证的是「Mock 模式下问答链路与数据准确性」（后端真实统计驱动，非假数据）；接入 RagFlow 知识库后，用同一 24 题测试集复测即得最终准确率。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八、创新点与工程价值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五个可迁移到其他项目的方法论沉淀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3112" cy="95097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658368" cy="9509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6583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F1B2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99032"/>
            <a:ext cx="10149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数据来源三态标注体系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71907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严格区分实测 / 推算 / 仿真字段，并贯穿数据字典、接口返回、前端徽章三处。避免把仿真的供回水温度与 COP 当作实测值使用，满足企业对「风险边界说明」的要求。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40863"/>
            <a:ext cx="11183112" cy="95097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40863"/>
            <a:ext cx="658368" cy="950976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42615"/>
            <a:ext cx="6583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F1B2F"/>
                </a:solidFill>
                <a:latin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41447"/>
            <a:ext cx="10149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分层基线 + 分位数阈值异常检测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61487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用「星期几×小时」分层消除周期成分，用残差分位数替代固定 σ 倍数控制误报，并引入显著性下限抑制近零负荷建筑的系统性误报（该类异常率 12.98% → 5.88%）。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78"/>
            <a:ext cx="11183112" cy="95097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83278"/>
            <a:ext cx="658368" cy="95097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85030"/>
            <a:ext cx="6583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F1B2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483862"/>
            <a:ext cx="10149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能耗异常与数据质量缺陷分离统计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把「表计卡死/数据缺失」从「能耗异常」中剥离。若混在一起，误报率会从 3.29% 虚高到 16.9%，导致验收指标失真。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25693"/>
            <a:ext cx="11183112" cy="95097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425693"/>
            <a:ext cx="658368" cy="95097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27445"/>
            <a:ext cx="6583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F1B2F"/>
                </a:solidFill>
                <a:latin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526277"/>
            <a:ext cx="10149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四张预聚合表支撑 2 秒响应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846317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按四个粒度预聚合，把跨百万行聚合查询从秒级降到毫秒级，并明确「看板查预聚合表、明细查事实表」的查询规范。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68108"/>
            <a:ext cx="11183112" cy="950976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5468108"/>
            <a:ext cx="658368" cy="950976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69860"/>
            <a:ext cx="6583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F1B2F"/>
                </a:solidFill>
                <a:latin typeface="微软雅黑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568692"/>
            <a:ext cx="10149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Mock 优先解耦 AI 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588873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后端抽象 AI 服务接口，Mock 实现由真实统计能力驱动（非假数据），使前端与问答链路在 AI 队友服务就绪前即可联调，切换仅需改一行配置。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九、风险边界与人工复核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明确 AI 能力边界，所有输出均可追溯、需人工确认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943600" cy="237744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专业风险与人工复核措施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F4444"/>
                </a:solidFill>
                <a:latin typeface="微软雅黑"/>
              </a:rPr>
              <a:t>AI 诊断与建议可能有偏差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83664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所有诊断/建议响应带「需人工复核」标记与免责声明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4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F4444"/>
                </a:solidFill>
                <a:latin typeface="微软雅黑"/>
              </a:rPr>
              <a:t>AI 字段映射可能不准确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40864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五步向导强制「预览导入」，用户确认后才落库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98064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F4444"/>
                </a:solidFill>
                <a:latin typeface="微软雅黑"/>
              </a:rPr>
              <a:t>异常算法可能误报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798064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模型偏差 + 规则约束双重判定；异常事件表可登记处理结论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55264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F4444"/>
                </a:solidFill>
                <a:latin typeface="微软雅黑"/>
              </a:rPr>
              <a:t>AI 报表初稿需确认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55264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导出为原始统计数据，AI 解读文字单独标注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5943600" cy="22402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2336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数据合规边界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370832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数据源：BDG2 开源学术数据集，CC-BY 4.0 许可，可自由使用并署名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数据集本身已脱敏（建筑名称均为化名），不含真实地址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不得采集真实建筑能耗原始数据；不接入企业生产环境数据库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00">
                <a:solidFill>
                  <a:srgbClr val="E6EDF7"/>
                </a:solidFill>
                <a:latin typeface="微软雅黑"/>
              </a:rPr>
              <a:t>· 不得输出未脱敏的真实能耗数据；不展示企业内部业务流程细节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371600"/>
            <a:ext cx="5102352" cy="4754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517904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C55E"/>
                </a:solidFill>
                <a:latin typeface="微软雅黑"/>
              </a:rPr>
              <a:t>已知数据限制（如实说明）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883664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微软雅黑"/>
              </a:rPr>
              <a:t>· cop 缺失率 95.41%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157984"/>
            <a:ext cx="4526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18 个园区中仅 5 个有可用冷冻水表计，其余经校验判定量级失真已剔除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578608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微软雅黑"/>
              </a:rPr>
              <a:t>· hvac_kwh 缺失 43.19%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852928"/>
            <a:ext cx="4526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取决于园区是否有可用的冷冻水/蒸汽/热水表计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273552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微软雅黑"/>
              </a:rPr>
              <a:t>· water_m3 缺失 80.27%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547872"/>
            <a:ext cx="4526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BDG2 中水表覆盖本身较少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3968496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微软雅黑"/>
              </a:rPr>
              <a:t>· B 级建筑 25 栋为估算值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242816"/>
            <a:ext cx="4526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电耗按面积分摊站点剩余量，anomaly_flag = -1（未评估）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663440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微软雅黑"/>
              </a:rPr>
              <a:t>· 供回水温度/COP/人员密度为仿真值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37760"/>
            <a:ext cx="4526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BDG2 无相应实测数据，按物理模型生成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5358384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微软雅黑"/>
              </a:rPr>
              <a:t>· 异常评测为注入式仿真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632704"/>
            <a:ext cx="45262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与真实用能异常形态存在差异，已在评测报告中说明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十、系统演示与快速验证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一键启动，三分钟走完核心链路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943600" cy="214884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一键启动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47088"/>
            <a:ext cx="5486400" cy="1554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>./scripts/start-all.sh          # 启动 MySQL + 后端 + 前端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>./scripts/start-all.sh status   # 查看服务状态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>./scripts/start-all.sh stop     # 全部停止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># 复现评测结果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>.venv/bin/python scripts/load_test.py          # 性能压测（30 接口）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2C55E"/>
                </a:solidFill>
                <a:latin typeface="微软雅黑"/>
              </a:rPr>
              <a:t>.venv/bin/python scripts/build_qa_testset.py   # AI 问答测试集（24 题）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5943600" cy="2468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03904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访问地址与演示账号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51376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系统界面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15137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6EDF7"/>
                </a:solidFill>
                <a:latin typeface="微软雅黑"/>
              </a:rPr>
              <a:t>http://127.0.0.1:5173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接口文档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51713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6EDF7"/>
                </a:solidFill>
                <a:latin typeface="微软雅黑"/>
              </a:rPr>
              <a:t>http://127.0.0.1:8080/doc.html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882896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管理员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88289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6EDF7"/>
                </a:solidFill>
                <a:latin typeface="微软雅黑"/>
              </a:rPr>
              <a:t>admin / admin123（全部权限）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248656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运维人员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24865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6EDF7"/>
                </a:solidFill>
                <a:latin typeface="微软雅黑"/>
              </a:rPr>
              <a:t>operator / operator123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614416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只读用户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61441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6EDF7"/>
                </a:solidFill>
                <a:latin typeface="微软雅黑"/>
              </a:rPr>
              <a:t>viewer / viewer123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371600"/>
            <a:ext cx="5102352" cy="47548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1517904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C55E"/>
                </a:solidFill>
                <a:latin typeface="微软雅黑"/>
              </a:rPr>
              <a:t>5 分钟演示脚本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4848" y="1883664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1929384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1901952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登录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1911096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用 admin 登录，注意演示账号一键填充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4848" y="2404871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450591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2423159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监控看板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432303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6 张 KPI 卡 + 6 类图表；看能耗趋势与室外温度的相关性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84848" y="292607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2971798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294436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3D 园区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953510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切换着色模式（评级/强度/异常率）、高度模式；点击楼栋看详情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84848" y="3447285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3493005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3465573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能耗查询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474717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选园区+时间，日粒度多建筑对比；试小时粒度触发单建筑约束提示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84848" y="396849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4848" y="4014212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398678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统计分析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995924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三个 Tab：时段汇总看峰谷；COP 看温度衰减；异常分析看两类分离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4848" y="4489699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4535419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4507987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异常诊断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517131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按类型筛选事件 → 点诊断看归因证据链 → 点优化建议看量化依据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4848" y="501090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5056626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502919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小E 助手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038338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问「Hog_office_Sydney 为什么能耗偏高」，看工具链与证据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84848" y="5532113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84848" y="5577833"/>
            <a:ext cx="310896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5472" y="5550401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数据导入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559545"/>
            <a:ext cx="30175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A0C0"/>
                </a:solidFill>
                <a:latin typeface="微软雅黑"/>
              </a:rPr>
              <a:t>上传 CSV → 看自动映射建议 → 预览 → 导入 → 查审计留痕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384048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4241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十一、团队分工与协作机制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6070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全栈开发与 AI/算法双线并行，以书面接口契约解耦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BA0C0"/>
                </a:solidFill>
                <a:latin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54864"/>
          </a:xfrm>
          <a:prstGeom prst="roundRect">
            <a:avLst>
              <a:gd name="adj" fmla="val 6000"/>
            </a:avLst>
          </a:prstGeom>
          <a:solidFill>
            <a:srgbClr val="2F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0292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角色 A · 全栈开发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0292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技术栈：Vue3 + TypeScript + Spring Boot 3 + MySQL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统一能耗数据集构建与治理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查询统计模块（3 类核心统计 + 报表导出）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监控看板与 3D 园区模型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数据导入五步向导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系统集成、RBAC 权限与审计留痕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716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5486400" cy="54864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36192"/>
            <a:ext cx="502920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角色 B · AI + 算法 /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38528"/>
            <a:ext cx="50292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技术栈：Python + FastAPI + RagFlow + 轻量 LLM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MCP 7 类工具的协议适配层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建筑能源知识库构建（运维手册、规范）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「小E」AI 助手问答编排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050">
                <a:solidFill>
                  <a:srgbClr val="E6EDF7"/>
                </a:solidFill>
                <a:latin typeface="微软雅黑"/>
              </a:rPr>
              <a:t>· 诊断算法可选用机器学习模型替换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83112" cy="155448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0016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</a:rPr>
              <a:t>解耦机制：三项措施保证双线并行不阻塞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219456" cy="21945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029200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书面接口契约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29200"/>
            <a:ext cx="84124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明确 7 类 MCP 工具入参出参、AI 服务 5 个 HTTP 端点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76672"/>
            <a:ext cx="219456" cy="21945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358384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数据查询已就绪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358384"/>
            <a:ext cx="84124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后端已实现 7 类工具的数据查询，角色 B 只需做协议适配层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05856"/>
            <a:ext cx="219456" cy="21945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687568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Mock 优先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687568"/>
            <a:ext cx="84124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A0C0"/>
                </a:solidFill>
                <a:latin typeface="微软雅黑"/>
              </a:rPr>
              <a:t>carbon.ai.mode=mock|http 双实现，切换改一行配置，前端与测试集零改动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22D3EE"/>
                </a:solidFill>
                <a:latin typeface="微软雅黑"/>
              </a:rPr>
              <a:t>碳能智控运维平台 · 建筑能源智能管理与运营优化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611880"/>
            <a:ext cx="3749039" cy="27432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数据规模 599 万条　|　30 个接口全部 ≤2 秒　|　异常识别召回 98.68% / 误报 3.29%</a:t>
            </a:r>
          </a:p>
          <a:p>
            <a:pPr algn="ctr">
              <a:lnSpc>
                <a:spcPct val="170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郑州西亚斯学院 工学部科大讯飞人工智能学院　|　项目导师：席宏昌</a:t>
            </a:r>
          </a:p>
          <a:p>
            <a:pPr algn="ctr">
              <a:lnSpc>
                <a:spcPct val="170000"/>
              </a:lnSpc>
            </a:pPr>
            <a:r>
              <a:rPr sz="1250" b="0">
                <a:solidFill>
                  <a:srgbClr val="8BA0C0"/>
                </a:solidFill>
                <a:latin typeface="微软雅黑"/>
              </a:rPr>
              <a:t>数据源：Building Data Genome Project 2（CC-BY 4.0）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